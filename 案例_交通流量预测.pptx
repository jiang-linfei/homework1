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2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3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7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8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9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13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5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8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4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3" Type="http://schemas.openxmlformats.org/officeDocument/2006/relationships/image" Target="../media/image22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23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3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6.xml"/><Relationship Id="rId3" Type="http://schemas.openxmlformats.org/officeDocument/2006/relationships/image" Target="../media/image26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9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2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5.xml"/><Relationship Id="rId3" Type="http://schemas.openxmlformats.org/officeDocument/2006/relationships/image" Target="../media/image31.png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8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1.xml"/><Relationship Id="rId3" Type="http://schemas.openxmlformats.org/officeDocument/2006/relationships/image" Target="../media/image34.png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4.xml"/><Relationship Id="rId4" Type="http://schemas.openxmlformats.org/officeDocument/2006/relationships/image" Target="../media/image35.wmf"/><Relationship Id="rId3" Type="http://schemas.openxmlformats.org/officeDocument/2006/relationships/oleObject" Target="../embeddings/oleObject1.bin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4800"/>
              <a:t>案例：图神经网络实现交通预测</a:t>
            </a:r>
            <a:endParaRPr lang="zh-CN" altLang="en-US" sz="48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608385"/>
            <a:ext cx="10969200" cy="4759200"/>
          </a:xfrm>
        </p:spPr>
        <p:txBody>
          <a:bodyPr/>
          <a:p>
            <a:r>
              <a:rPr lang="zh-CN" altLang="en-US" sz="2000"/>
              <a:t>近年来，“智慧城市”的概念日益深入人心。这个概念指的是使用数据来管理和改进城市的运营和服务。在此背景下，智慧城市吸引力的主要来源之一是智能交通系统的创建。准确的交通预测可以帮助交通管理者优化交通信号、规划基础设施并减少拥堵。然而，由于复杂的空间和时间依赖性，交通预测是一项颇具挑战性的任务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35" y="2398395"/>
            <a:ext cx="10634345" cy="28384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04240" y="608330"/>
            <a:ext cx="1037590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EvolveGCN</a:t>
            </a:r>
            <a:r>
              <a:rPr lang="zh-CN" altLang="en-US"/>
              <a:t>简介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36015" y="1468755"/>
            <a:ext cx="969581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3120" y="52070"/>
            <a:ext cx="9963150" cy="16325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195" y="1626235"/>
            <a:ext cx="6651625" cy="25666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010" y="4283075"/>
            <a:ext cx="6734810" cy="25749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A3T-GCN</a:t>
            </a:r>
            <a:r>
              <a:rPr lang="zh-CN" altLang="en-US"/>
              <a:t>构</a:t>
            </a:r>
            <a:r>
              <a:rPr lang="zh-CN" altLang="en-US"/>
              <a:t>简介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79525" y="1224280"/>
            <a:ext cx="9380220" cy="56337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交通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45745" y="1490345"/>
            <a:ext cx="11331575" cy="4759325"/>
          </a:xfrm>
        </p:spPr>
        <p:txBody>
          <a:bodyPr/>
          <a:p>
            <a:r>
              <a:rPr lang="zh-CN" altLang="en-US"/>
              <a:t>交通数据集是2012年5月和6月的工作日使用</a:t>
            </a:r>
            <a:r>
              <a:rPr lang="en-US" altLang="zh-CN"/>
              <a:t>Caltrans</a:t>
            </a:r>
            <a:r>
              <a:rPr lang="zh-CN" altLang="en-US"/>
              <a:t>性能测量系统（</a:t>
            </a:r>
            <a:r>
              <a:rPr lang="en-US" altLang="zh-CN"/>
              <a:t>performance measurement system,PeMS)</a:t>
            </a:r>
            <a:r>
              <a:rPr lang="zh-CN" altLang="en-US"/>
              <a:t>从39000个传感器站收集的交通速度数据中获得的。在该中等大小的变体中，仅考虑了加利福尼亚州第7区的228个传感器站。这些传感器站输出30</a:t>
            </a:r>
            <a:r>
              <a:rPr lang="en-US" altLang="zh-CN"/>
              <a:t>s</a:t>
            </a:r>
            <a:r>
              <a:rPr lang="zh-CN" altLang="en-US"/>
              <a:t>的速度测量值，并在此数据集中聚合为5</a:t>
            </a:r>
            <a:r>
              <a:rPr lang="en-US" altLang="zh-CN"/>
              <a:t>min</a:t>
            </a:r>
            <a:r>
              <a:rPr lang="zh-CN" altLang="en-US"/>
              <a:t>的间隔。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335" y="2672715"/>
            <a:ext cx="8360410" cy="41929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b="82335"/>
          <a:stretch>
            <a:fillRect/>
          </a:stretch>
        </p:blipFill>
        <p:spPr>
          <a:xfrm>
            <a:off x="1121410" y="1690370"/>
            <a:ext cx="9272270" cy="13995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69053"/>
          <a:stretch>
            <a:fillRect/>
          </a:stretch>
        </p:blipFill>
        <p:spPr>
          <a:xfrm>
            <a:off x="1130300" y="2961005"/>
            <a:ext cx="9262745" cy="24339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5" y="5441950"/>
            <a:ext cx="8680450" cy="13411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1520" y="280670"/>
            <a:ext cx="9580880" cy="6099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950" y="3076575"/>
            <a:ext cx="4836160" cy="25666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14070" y="665480"/>
            <a:ext cx="9935210" cy="5308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83360" y="144780"/>
            <a:ext cx="8602980" cy="5945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515" y="6090285"/>
            <a:ext cx="8759825" cy="6432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将表格数据转换为图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3400" y="0"/>
            <a:ext cx="10170160" cy="44284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486910"/>
            <a:ext cx="10222230" cy="22948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2750" y="635"/>
            <a:ext cx="8697595" cy="68573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465" y="2571115"/>
            <a:ext cx="4218940" cy="42881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b="56011"/>
          <a:stretch>
            <a:fillRect/>
          </a:stretch>
        </p:blipFill>
        <p:spPr>
          <a:xfrm>
            <a:off x="1685925" y="0"/>
            <a:ext cx="8652510" cy="3203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92065"/>
          <a:stretch>
            <a:fillRect/>
          </a:stretch>
        </p:blipFill>
        <p:spPr>
          <a:xfrm>
            <a:off x="1685925" y="3203575"/>
            <a:ext cx="8652510" cy="577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580" y="3721100"/>
            <a:ext cx="5417820" cy="31318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归一化速度数据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98245" y="1374775"/>
            <a:ext cx="9328785" cy="52876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30245" y="166440"/>
            <a:ext cx="10969200" cy="705600"/>
          </a:xfrm>
        </p:spPr>
        <p:txBody>
          <a:bodyPr/>
          <a:p>
            <a:r>
              <a:rPr lang="zh-CN" altLang="en-US"/>
              <a:t>创建时序图：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51200" y="0"/>
            <a:ext cx="835342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b="71234"/>
          <a:stretch>
            <a:fillRect/>
          </a:stretch>
        </p:blipFill>
        <p:spPr>
          <a:xfrm>
            <a:off x="1680210" y="608330"/>
            <a:ext cx="8644890" cy="20783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80454"/>
          <a:stretch>
            <a:fillRect/>
          </a:stretch>
        </p:blipFill>
        <p:spPr>
          <a:xfrm>
            <a:off x="1690370" y="2562860"/>
            <a:ext cx="8648065" cy="1412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255" y="3975735"/>
            <a:ext cx="9143365" cy="25984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3110"/>
              <a:t>使用</a:t>
            </a:r>
            <a:r>
              <a:rPr lang="en-US" altLang="zh-CN" sz="3110"/>
              <a:t>PyTorchGeometricTemporal</a:t>
            </a:r>
            <a:r>
              <a:rPr lang="zh-CN" altLang="en-US" sz="3110"/>
              <a:t>库来实现</a:t>
            </a:r>
            <a:r>
              <a:rPr lang="en-US" altLang="zh-CN" sz="3110"/>
              <a:t>A3T-GCN</a:t>
            </a:r>
            <a:r>
              <a:rPr lang="zh-CN" altLang="en-US" sz="3110"/>
              <a:t>架构</a:t>
            </a:r>
            <a:endParaRPr lang="zh-CN" altLang="en-US" sz="311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37665" y="1257300"/>
            <a:ext cx="9548495" cy="5600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10385" y="-72390"/>
            <a:ext cx="7458075" cy="29864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595" y="2914015"/>
            <a:ext cx="7146925" cy="39420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5640" y="383610"/>
            <a:ext cx="10969200" cy="705600"/>
          </a:xfrm>
        </p:spPr>
        <p:txBody>
          <a:bodyPr/>
          <a:p>
            <a:r>
              <a:rPr lang="zh-CN" altLang="en-US"/>
              <a:t>评估模型性能：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618230" y="136525"/>
            <a:ext cx="8148320" cy="4759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380" y="4993640"/>
            <a:ext cx="7710170" cy="15836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04670" y="93345"/>
            <a:ext cx="7679690" cy="67646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87145" y="129540"/>
            <a:ext cx="9784080" cy="17627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40" y="1892300"/>
            <a:ext cx="9744075" cy="49657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可视化平均</a:t>
            </a:r>
            <a:r>
              <a:rPr lang="zh-CN" altLang="en-US"/>
              <a:t>值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87550" y="1490345"/>
            <a:ext cx="820991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内容占位符 3">
            <a:hlinkClick r:id="" action="ppaction://ole?verb="/>
          </p:cNvPr>
          <p:cNvGraphicFramePr>
            <a:graphicFrameLocks noChangeAspect="1"/>
          </p:cNvGraphicFramePr>
          <p:nvPr>
            <p:ph idx="1"/>
            <p:custDataLst>
              <p:tags r:id="rId2"/>
            </p:custDataLst>
          </p:nvPr>
        </p:nvGraphicFramePr>
        <p:xfrm>
          <a:off x="5606415" y="3250565"/>
          <a:ext cx="97155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3" imgW="971550" imgH="1238250" progId="Package">
                  <p:embed/>
                </p:oleObj>
              </mc:Choice>
              <mc:Fallback>
                <p:oleObj name="" showAsIcon="1" r:id="rId3" imgW="971550" imgH="123825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06415" y="3250565"/>
                        <a:ext cx="971550" cy="1238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WPS 演示</Application>
  <PresentationFormat>宽屏</PresentationFormat>
  <Paragraphs>24</Paragraphs>
  <Slides>24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k.liu</cp:lastModifiedBy>
  <cp:revision>157</cp:revision>
  <dcterms:created xsi:type="dcterms:W3CDTF">2019-06-19T02:08:00Z</dcterms:created>
  <dcterms:modified xsi:type="dcterms:W3CDTF">2026-06-03T06:03:39Z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FC6E85747DA74366B087EF2496FF37AC_11</vt:lpwstr>
  </property>
</Properties>
</file>